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oboto"/>
      <p:regular r:id="rId20"/>
      <p:bold r:id="rId21"/>
      <p:italic r:id="rId22"/>
      <p:boldItalic r:id="rId23"/>
    </p:embeddedFont>
    <p:embeddedFont>
      <p:font typeface="EB Garamond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EBGaramond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EBGaramond-italic.fntdata"/><Relationship Id="rId25" Type="http://schemas.openxmlformats.org/officeDocument/2006/relationships/font" Target="fonts/EBGaramond-bold.fntdata"/><Relationship Id="rId27" Type="http://schemas.openxmlformats.org/officeDocument/2006/relationships/font" Target="fonts/EBGaramon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17a73ac342cb4e4d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17a73ac342cb4e4d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17a73ac342cb4e4d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17a73ac342cb4e4d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h17a73ac342cb4e4d_2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h17a73ac342cb4e4d_2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h17a73ac342cb4e4d_2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h17a73ac342cb4e4d_2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h17a73ac342cb4e4d_2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h17a73ac342cb4e4d_2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h6759f69b40f7ca0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h6759f69b40f7ca0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h6759f69b40f7ca00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h6759f69b40f7ca0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h6759f69b40f7ca00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h6759f69b40f7ca00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h6759f69b40f7ca00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h6759f69b40f7ca00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h6759f69b40f7ca0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h6759f69b40f7ca0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h6759f69b40f7ca00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h6759f69b40f7ca00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h17a73ac342cb4e4d_2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h17a73ac342cb4e4d_2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h17a73ac342cb4e4d_2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h17a73ac342cb4e4d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stitch.withgoogle.com/preview/6151011270328792814?node-id=cdda618cac454c389405c9e259170dac" TargetMode="External"/><Relationship Id="rId4" Type="http://schemas.openxmlformats.org/officeDocument/2006/relationships/image" Target="../media/image3.png"/><Relationship Id="rId5" Type="http://schemas.openxmlformats.org/officeDocument/2006/relationships/hyperlink" Target="https://www.youtube.com/watch?v=Slxdo0Dqxlk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github.com/KevinV593/web/tree/main/PerfilProfesional_CSS" TargetMode="External"/><Relationship Id="rId4" Type="http://schemas.openxmlformats.org/officeDocument/2006/relationships/hyperlink" Target="https://hub.docker.com/r/kevinv593/portafoliocss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243852"/>
            <a:ext cx="8520600" cy="69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b="1" lang="es" sz="3500">
                <a:latin typeface="EB Garamond"/>
                <a:ea typeface="EB Garamond"/>
                <a:cs typeface="EB Garamond"/>
                <a:sym typeface="EB Garamond"/>
              </a:rPr>
              <a:t>Universidad de las Fuerzas Armadas “ESPE”</a:t>
            </a:r>
            <a:endParaRPr sz="35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976876"/>
            <a:ext cx="8520600" cy="16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4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Perfil Profesional con CSS y HTML</a:t>
            </a:r>
            <a:endParaRPr sz="24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NRC</a:t>
            </a:r>
            <a:r>
              <a:rPr lang="es" sz="24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: 36875</a:t>
            </a:r>
            <a:endParaRPr sz="2400"/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Kevin Vaca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0" y="109277"/>
            <a:ext cx="8520600" cy="69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600">
                <a:solidFill>
                  <a:schemeClr val="accent1"/>
                </a:solidFill>
                <a:latin typeface="EB Garamond"/>
                <a:ea typeface="EB Garamond"/>
                <a:cs typeface="EB Garamond"/>
                <a:sym typeface="EB Garamond"/>
              </a:rPr>
              <a:t>Objetivo</a:t>
            </a:r>
            <a:endParaRPr b="1" sz="3500"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1035601"/>
            <a:ext cx="8520600" cy="16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lnSpc>
                <a:spcPct val="1429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s" sz="24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El objetivo principal de este proyecto es diseñar y desarrollar un sitio web estático tipo portafolio utilizando HTML5 y CSS3 para reflejar la información de mi hoja de vida basado en un mockup de alta fidelidad. Además, el proyecto implement</a:t>
            </a:r>
            <a:r>
              <a:rPr lang="es" sz="25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a</a:t>
            </a:r>
            <a:r>
              <a:rPr lang="es" sz="24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el control de versiones del código fuente en GitHub y la contenedorización de la aplicación web para su distribución y despliegue a través de Docker Hub.</a:t>
            </a:r>
            <a:endParaRPr spc="21" sz="1050">
              <a:solidFill>
                <a:srgbClr val="FFFFFF"/>
              </a:solidFill>
              <a:highlight>
                <a:srgbClr val="10151B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0838" y="2571751"/>
            <a:ext cx="4182315" cy="2140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ctrTitle"/>
          </p:nvPr>
        </p:nvSpPr>
        <p:spPr>
          <a:xfrm>
            <a:off x="311700" y="109277"/>
            <a:ext cx="8520600" cy="69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600">
                <a:solidFill>
                  <a:schemeClr val="accent1"/>
                </a:solidFill>
                <a:latin typeface="EB Garamond"/>
                <a:ea typeface="EB Garamond"/>
                <a:cs typeface="EB Garamond"/>
                <a:sym typeface="EB Garamond"/>
              </a:rPr>
              <a:t>Estructura</a:t>
            </a:r>
            <a:endParaRPr b="1" sz="3500"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5388" y="1096500"/>
            <a:ext cx="5953225" cy="295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ctrTitle"/>
          </p:nvPr>
        </p:nvSpPr>
        <p:spPr>
          <a:xfrm>
            <a:off x="311700" y="109277"/>
            <a:ext cx="8520600" cy="69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600">
                <a:solidFill>
                  <a:schemeClr val="accent1"/>
                </a:solidFill>
                <a:latin typeface="EB Garamond"/>
                <a:ea typeface="EB Garamond"/>
                <a:cs typeface="EB Garamond"/>
                <a:sym typeface="EB Garamond"/>
              </a:rPr>
              <a:t>Enlaces</a:t>
            </a:r>
            <a:endParaRPr b="1" sz="3500"/>
          </a:p>
        </p:txBody>
      </p:sp>
      <p:sp>
        <p:nvSpPr>
          <p:cNvPr id="74" name="Google Shape;74;p16"/>
          <p:cNvSpPr txBox="1"/>
          <p:nvPr>
            <p:ph idx="1" type="subTitle"/>
          </p:nvPr>
        </p:nvSpPr>
        <p:spPr>
          <a:xfrm>
            <a:off x="311700" y="1035599"/>
            <a:ext cx="8520600" cy="9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Mockup de alta fidelidad</a:t>
            </a:r>
            <a:endParaRPr sz="14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457200" lvl="0" marL="0" rtl="0" algn="just">
              <a:lnSpc>
                <a:spcPct val="115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s" sz="1400" u="sng">
                <a:solidFill>
                  <a:srgbClr val="1155CC"/>
                </a:solidFill>
                <a:latin typeface="EB Garamond"/>
                <a:ea typeface="EB Garamond"/>
                <a:cs typeface="EB Garamond"/>
                <a:sym typeface="EB Garamo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https://stitch.withgoogle.com/preview/6151011270328792814?node-id=cdda618cac454c389405c9e259170dac</a:t>
            </a:r>
            <a:r>
              <a:rPr lang="es" sz="14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</a:t>
            </a:r>
            <a:endParaRPr sz="2400"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6487" y="2014222"/>
            <a:ext cx="4386375" cy="244762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>
            <p:ph idx="1" type="subTitle"/>
          </p:nvPr>
        </p:nvSpPr>
        <p:spPr>
          <a:xfrm>
            <a:off x="4740100" y="4151775"/>
            <a:ext cx="4092300" cy="5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b="1" lang="es" sz="1400" u="sng">
                <a:solidFill>
                  <a:schemeClr val="hlink"/>
                </a:solidFill>
                <a:latin typeface="EB Garamond"/>
                <a:ea typeface="EB Garamond"/>
                <a:cs typeface="EB Garamond"/>
                <a:sym typeface="EB Garamond"/>
                <a:hlinkClick r:id="rId5"/>
              </a:rPr>
              <a:t>https://www.youtube.com/watch?v=Slxdo0Dqxlk</a:t>
            </a:r>
            <a:endParaRPr b="1" sz="14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ctrTitle"/>
          </p:nvPr>
        </p:nvSpPr>
        <p:spPr>
          <a:xfrm>
            <a:off x="311700" y="109277"/>
            <a:ext cx="8520600" cy="69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600">
                <a:solidFill>
                  <a:schemeClr val="accent1"/>
                </a:solidFill>
                <a:latin typeface="EB Garamond"/>
                <a:ea typeface="EB Garamond"/>
                <a:cs typeface="EB Garamond"/>
                <a:sym typeface="EB Garamond"/>
              </a:rPr>
              <a:t>Tecnologías</a:t>
            </a:r>
            <a:r>
              <a:rPr b="1" lang="es" sz="3600">
                <a:solidFill>
                  <a:schemeClr val="accent1"/>
                </a:solidFill>
                <a:latin typeface="EB Garamond"/>
                <a:ea typeface="EB Garamond"/>
                <a:cs typeface="EB Garamond"/>
                <a:sym typeface="EB Garamond"/>
              </a:rPr>
              <a:t> Usadas</a:t>
            </a:r>
            <a:endParaRPr b="1" sz="3500"/>
          </a:p>
        </p:txBody>
      </p:sp>
      <p:sp>
        <p:nvSpPr>
          <p:cNvPr id="82" name="Google Shape;82;p17"/>
          <p:cNvSpPr txBox="1"/>
          <p:nvPr>
            <p:ph idx="1" type="subTitle"/>
          </p:nvPr>
        </p:nvSpPr>
        <p:spPr>
          <a:xfrm>
            <a:off x="311700" y="1035599"/>
            <a:ext cx="8520600" cy="36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4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GitHub</a:t>
            </a:r>
            <a:endParaRPr b="1" sz="14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45720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 u="sng">
                <a:solidFill>
                  <a:srgbClr val="1155CC"/>
                </a:solidFill>
                <a:latin typeface="EB Garamond"/>
                <a:ea typeface="EB Garamond"/>
                <a:cs typeface="EB Garamond"/>
                <a:sym typeface="EB Garamo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https://github.com/KevinV593/web/tree/main/PerfilProfesional_CSS</a:t>
            </a:r>
            <a:endParaRPr sz="14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4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Docker</a:t>
            </a:r>
            <a:endParaRPr b="1" sz="14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457200" lvl="0" marL="0" rtl="0" algn="just">
              <a:lnSpc>
                <a:spcPct val="115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s" sz="1400" u="sng">
                <a:solidFill>
                  <a:srgbClr val="1155CC"/>
                </a:solidFill>
                <a:latin typeface="EB Garamond"/>
                <a:ea typeface="EB Garamond"/>
                <a:cs typeface="EB Garamond"/>
                <a:sym typeface="EB Garamo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https://hub.docker.com/r/kevinv593/portafoliocss</a:t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ctrTitle"/>
          </p:nvPr>
        </p:nvSpPr>
        <p:spPr>
          <a:xfrm>
            <a:off x="311700" y="286525"/>
            <a:ext cx="85206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>
                <a:solidFill>
                  <a:schemeClr val="accent1"/>
                </a:solidFill>
                <a:latin typeface="EB Garamond"/>
                <a:ea typeface="EB Garamond"/>
                <a:cs typeface="EB Garamond"/>
                <a:sym typeface="EB Garamond"/>
              </a:rPr>
              <a:t>Barra</a:t>
            </a:r>
            <a:r>
              <a:rPr lang="es" sz="3600">
                <a:latin typeface="EB Garamond"/>
                <a:ea typeface="EB Garamond"/>
                <a:cs typeface="EB Garamond"/>
                <a:sym typeface="EB Garamond"/>
              </a:rPr>
              <a:t> </a:t>
            </a:r>
            <a:r>
              <a:rPr lang="es" sz="3600">
                <a:solidFill>
                  <a:schemeClr val="accent1"/>
                </a:solidFill>
                <a:latin typeface="EB Garamond"/>
                <a:ea typeface="EB Garamond"/>
                <a:cs typeface="EB Garamond"/>
                <a:sym typeface="EB Garamond"/>
              </a:rPr>
              <a:t>de</a:t>
            </a:r>
            <a:r>
              <a:rPr lang="es" sz="3600">
                <a:latin typeface="EB Garamond"/>
                <a:ea typeface="EB Garamond"/>
                <a:cs typeface="EB Garamond"/>
                <a:sym typeface="EB Garamond"/>
              </a:rPr>
              <a:t> </a:t>
            </a:r>
            <a:r>
              <a:rPr lang="es" sz="3600">
                <a:solidFill>
                  <a:schemeClr val="accent1"/>
                </a:solidFill>
                <a:latin typeface="EB Garamond"/>
                <a:ea typeface="EB Garamond"/>
                <a:cs typeface="EB Garamond"/>
                <a:sym typeface="EB Garamond"/>
              </a:rPr>
              <a:t>Navegación</a:t>
            </a:r>
            <a:endParaRPr sz="3600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88" name="Google Shape;88;p18"/>
          <p:cNvPicPr preferRelativeResize="0"/>
          <p:nvPr/>
        </p:nvPicPr>
        <p:blipFill rotWithShape="1">
          <a:blip r:embed="rId3">
            <a:alphaModFix/>
          </a:blip>
          <a:srcRect b="81919" l="0" r="0" t="0"/>
          <a:stretch/>
        </p:blipFill>
        <p:spPr>
          <a:xfrm>
            <a:off x="0" y="1196579"/>
            <a:ext cx="9144001" cy="904526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8"/>
          <p:cNvSpPr txBox="1"/>
          <p:nvPr/>
        </p:nvSpPr>
        <p:spPr>
          <a:xfrm>
            <a:off x="404525" y="3260900"/>
            <a:ext cx="3125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>
                <a:solidFill>
                  <a:schemeClr val="accent1"/>
                </a:solidFill>
                <a:latin typeface="EB Garamond"/>
                <a:ea typeface="EB Garamond"/>
                <a:cs typeface="EB Garamond"/>
                <a:sym typeface="EB Garamond"/>
              </a:rPr>
              <a:t>Responsive</a:t>
            </a:r>
            <a:endParaRPr sz="3600">
              <a:solidFill>
                <a:schemeClr val="accen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03775" y="3260900"/>
            <a:ext cx="5521700" cy="127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8"/>
          <p:cNvPicPr preferRelativeResize="0"/>
          <p:nvPr/>
        </p:nvPicPr>
        <p:blipFill rotWithShape="1">
          <a:blip r:embed="rId5">
            <a:alphaModFix/>
          </a:blip>
          <a:srcRect b="60948" l="4315" r="5798" t="19119"/>
          <a:stretch/>
        </p:blipFill>
        <p:spPr>
          <a:xfrm>
            <a:off x="0" y="1025425"/>
            <a:ext cx="8925475" cy="1113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ctrTitle"/>
          </p:nvPr>
        </p:nvSpPr>
        <p:spPr>
          <a:xfrm>
            <a:off x="311700" y="286525"/>
            <a:ext cx="85206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>
                <a:solidFill>
                  <a:schemeClr val="accent1"/>
                </a:solidFill>
                <a:latin typeface="EB Garamond"/>
                <a:ea typeface="EB Garamond"/>
                <a:cs typeface="EB Garamond"/>
                <a:sym typeface="EB Garamond"/>
              </a:rPr>
              <a:t>Barra</a:t>
            </a:r>
            <a:r>
              <a:rPr lang="es" sz="3600">
                <a:latin typeface="EB Garamond"/>
                <a:ea typeface="EB Garamond"/>
                <a:cs typeface="EB Garamond"/>
                <a:sym typeface="EB Garamond"/>
              </a:rPr>
              <a:t> </a:t>
            </a:r>
            <a:r>
              <a:rPr lang="es" sz="3600">
                <a:solidFill>
                  <a:schemeClr val="accent1"/>
                </a:solidFill>
                <a:latin typeface="EB Garamond"/>
                <a:ea typeface="EB Garamond"/>
                <a:cs typeface="EB Garamond"/>
                <a:sym typeface="EB Garamond"/>
              </a:rPr>
              <a:t>de</a:t>
            </a:r>
            <a:r>
              <a:rPr lang="es" sz="3600">
                <a:latin typeface="EB Garamond"/>
                <a:ea typeface="EB Garamond"/>
                <a:cs typeface="EB Garamond"/>
                <a:sym typeface="EB Garamond"/>
              </a:rPr>
              <a:t> </a:t>
            </a:r>
            <a:r>
              <a:rPr lang="es" sz="3600">
                <a:solidFill>
                  <a:schemeClr val="accent1"/>
                </a:solidFill>
                <a:latin typeface="EB Garamond"/>
                <a:ea typeface="EB Garamond"/>
                <a:cs typeface="EB Garamond"/>
                <a:sym typeface="EB Garamond"/>
              </a:rPr>
              <a:t>Navegación</a:t>
            </a:r>
            <a:endParaRPr sz="3600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97" name="Google Shape;97;p19"/>
          <p:cNvPicPr preferRelativeResize="0"/>
          <p:nvPr/>
        </p:nvPicPr>
        <p:blipFill rotWithShape="1">
          <a:blip r:embed="rId3">
            <a:alphaModFix/>
          </a:blip>
          <a:srcRect b="81919" l="0" r="0" t="0"/>
          <a:stretch/>
        </p:blipFill>
        <p:spPr>
          <a:xfrm>
            <a:off x="0" y="1196579"/>
            <a:ext cx="9144001" cy="904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53725" y="2796950"/>
            <a:ext cx="5478575" cy="19252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9"/>
          <p:cNvSpPr txBox="1"/>
          <p:nvPr/>
        </p:nvSpPr>
        <p:spPr>
          <a:xfrm>
            <a:off x="404525" y="3260900"/>
            <a:ext cx="3125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>
                <a:solidFill>
                  <a:schemeClr val="accent1"/>
                </a:solidFill>
                <a:latin typeface="EB Garamond"/>
                <a:ea typeface="EB Garamond"/>
                <a:cs typeface="EB Garamond"/>
                <a:sym typeface="EB Garamond"/>
              </a:rPr>
              <a:t>Responsive</a:t>
            </a:r>
            <a:endParaRPr sz="3600">
              <a:solidFill>
                <a:schemeClr val="accen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15590"/>
            <a:ext cx="9143999" cy="3626269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0"/>
          <p:cNvSpPr txBox="1"/>
          <p:nvPr>
            <p:ph type="ctrTitle"/>
          </p:nvPr>
        </p:nvSpPr>
        <p:spPr>
          <a:xfrm>
            <a:off x="311700" y="286525"/>
            <a:ext cx="85206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>
                <a:solidFill>
                  <a:schemeClr val="accent1"/>
                </a:solidFill>
                <a:latin typeface="EB Garamond"/>
                <a:ea typeface="EB Garamond"/>
                <a:cs typeface="EB Garamond"/>
                <a:sym typeface="EB Garamond"/>
              </a:rPr>
              <a:t>Hero - </a:t>
            </a:r>
            <a:r>
              <a:rPr lang="es" sz="3600">
                <a:solidFill>
                  <a:schemeClr val="accent1"/>
                </a:solidFill>
                <a:latin typeface="EB Garamond"/>
                <a:ea typeface="EB Garamond"/>
                <a:cs typeface="EB Garamond"/>
                <a:sym typeface="EB Garamond"/>
              </a:rPr>
              <a:t>Página</a:t>
            </a:r>
            <a:r>
              <a:rPr lang="es" sz="3600">
                <a:solidFill>
                  <a:schemeClr val="accent1"/>
                </a:solidFill>
                <a:latin typeface="EB Garamond"/>
                <a:ea typeface="EB Garamond"/>
                <a:cs typeface="EB Garamond"/>
                <a:sym typeface="EB Garamond"/>
              </a:rPr>
              <a:t> Principal</a:t>
            </a:r>
            <a:endParaRPr sz="3600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1"/>
          <p:cNvPicPr preferRelativeResize="0"/>
          <p:nvPr/>
        </p:nvPicPr>
        <p:blipFill rotWithShape="1">
          <a:blip r:embed="rId3">
            <a:alphaModFix/>
          </a:blip>
          <a:srcRect b="24359" l="42371" r="2206" t="44634"/>
          <a:stretch/>
        </p:blipFill>
        <p:spPr>
          <a:xfrm>
            <a:off x="2038050" y="1010388"/>
            <a:ext cx="5067876" cy="112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1"/>
          <p:cNvSpPr txBox="1"/>
          <p:nvPr>
            <p:ph type="ctrTitle"/>
          </p:nvPr>
        </p:nvSpPr>
        <p:spPr>
          <a:xfrm>
            <a:off x="311700" y="143650"/>
            <a:ext cx="85206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>
                <a:solidFill>
                  <a:schemeClr val="accent1"/>
                </a:solidFill>
                <a:latin typeface="EB Garamond"/>
                <a:ea typeface="EB Garamond"/>
                <a:cs typeface="EB Garamond"/>
                <a:sym typeface="EB Garamond"/>
              </a:rPr>
              <a:t>Botones</a:t>
            </a:r>
            <a:r>
              <a:rPr lang="es" sz="3600">
                <a:solidFill>
                  <a:schemeClr val="accent1"/>
                </a:solidFill>
                <a:latin typeface="EB Garamond"/>
                <a:ea typeface="EB Garamond"/>
                <a:cs typeface="EB Garamond"/>
                <a:sym typeface="EB Garamond"/>
              </a:rPr>
              <a:t> </a:t>
            </a:r>
            <a:endParaRPr sz="3600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13" name="Google Shape;11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975" y="2303938"/>
            <a:ext cx="3968431" cy="2703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2"/>
          <p:cNvPicPr preferRelativeResize="0"/>
          <p:nvPr/>
        </p:nvPicPr>
        <p:blipFill rotWithShape="1">
          <a:blip r:embed="rId3">
            <a:alphaModFix/>
          </a:blip>
          <a:srcRect b="24360" l="69579" r="16223" t="61264"/>
          <a:stretch/>
        </p:blipFill>
        <p:spPr>
          <a:xfrm>
            <a:off x="3202075" y="218525"/>
            <a:ext cx="2874301" cy="115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2"/>
          <p:cNvPicPr preferRelativeResize="0"/>
          <p:nvPr/>
        </p:nvPicPr>
        <p:blipFill rotWithShape="1">
          <a:blip r:embed="rId4">
            <a:alphaModFix/>
          </a:blip>
          <a:srcRect b="1730" l="0" r="0" t="-1730"/>
          <a:stretch/>
        </p:blipFill>
        <p:spPr>
          <a:xfrm>
            <a:off x="1975025" y="1372650"/>
            <a:ext cx="5462845" cy="3399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65180" y="1372650"/>
            <a:ext cx="6317898" cy="370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03" y="0"/>
            <a:ext cx="902199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4"/>
          <p:cNvPicPr preferRelativeResize="0"/>
          <p:nvPr/>
        </p:nvPicPr>
        <p:blipFill rotWithShape="1">
          <a:blip r:embed="rId3">
            <a:alphaModFix/>
          </a:blip>
          <a:srcRect b="0" l="0" r="0" t="81372"/>
          <a:stretch/>
        </p:blipFill>
        <p:spPr>
          <a:xfrm>
            <a:off x="0" y="4185400"/>
            <a:ext cx="9144000" cy="9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4"/>
          <p:cNvSpPr txBox="1"/>
          <p:nvPr>
            <p:ph type="ctrTitle"/>
          </p:nvPr>
        </p:nvSpPr>
        <p:spPr>
          <a:xfrm>
            <a:off x="311700" y="286525"/>
            <a:ext cx="85206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>
                <a:solidFill>
                  <a:schemeClr val="accent1"/>
                </a:solidFill>
                <a:latin typeface="EB Garamond"/>
                <a:ea typeface="EB Garamond"/>
                <a:cs typeface="EB Garamond"/>
                <a:sym typeface="EB Garamond"/>
              </a:rPr>
              <a:t>Pie</a:t>
            </a:r>
            <a:r>
              <a:rPr lang="es" sz="3600">
                <a:solidFill>
                  <a:schemeClr val="accent1"/>
                </a:solidFill>
                <a:latin typeface="EB Garamond"/>
                <a:ea typeface="EB Garamond"/>
                <a:cs typeface="EB Garamond"/>
                <a:sym typeface="EB Garamond"/>
              </a:rPr>
              <a:t> de </a:t>
            </a:r>
            <a:r>
              <a:rPr lang="es" sz="3600">
                <a:solidFill>
                  <a:schemeClr val="accent1"/>
                </a:solidFill>
                <a:latin typeface="EB Garamond"/>
                <a:ea typeface="EB Garamond"/>
                <a:cs typeface="EB Garamond"/>
                <a:sym typeface="EB Garamond"/>
              </a:rPr>
              <a:t>Página</a:t>
            </a:r>
            <a:endParaRPr sz="3600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ctrTitle"/>
          </p:nvPr>
        </p:nvSpPr>
        <p:spPr>
          <a:xfrm>
            <a:off x="311700" y="1210252"/>
            <a:ext cx="8520600" cy="69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600">
                <a:solidFill>
                  <a:schemeClr val="accent1"/>
                </a:solidFill>
                <a:latin typeface="EB Garamond"/>
                <a:ea typeface="EB Garamond"/>
                <a:cs typeface="EB Garamond"/>
                <a:sym typeface="EB Garamond"/>
              </a:rPr>
              <a:t>Conclusión</a:t>
            </a:r>
            <a:endParaRPr b="1" sz="3500"/>
          </a:p>
        </p:txBody>
      </p:sp>
      <p:sp>
        <p:nvSpPr>
          <p:cNvPr id="139" name="Google Shape;139;p25"/>
          <p:cNvSpPr txBox="1"/>
          <p:nvPr>
            <p:ph idx="1" type="subTitle"/>
          </p:nvPr>
        </p:nvSpPr>
        <p:spPr>
          <a:xfrm>
            <a:off x="311700" y="2136576"/>
            <a:ext cx="8520600" cy="16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0" lvl="0" marL="0" marR="0" rtl="0" algn="l">
              <a:lnSpc>
                <a:spcPct val="1429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4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Se logró desarrollar un sitio web estático tipo portafolio utilizando HTML5 y CSS3, tomando como referencia un mockup de alta fidelidad para presentar de manera organizada y visualmente atractiva la información de la hoja de vida. Asimismo, se integró GitHub para el control de versiones y Docker para la contenedorización de la aplicación, publicando la imagen en Docker Hub para facilitar su distribución y despliegue. De esta manera, se aplicaron conocimientos de desarrollo web, gestión del código fuente y tecnologías de contenedores en un proyecto práctico.</a:t>
            </a:r>
            <a:endParaRPr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ctrTitle"/>
          </p:nvPr>
        </p:nvSpPr>
        <p:spPr>
          <a:xfrm>
            <a:off x="311700" y="2050698"/>
            <a:ext cx="8520600" cy="126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200">
                <a:solidFill>
                  <a:schemeClr val="accent1"/>
                </a:solidFill>
                <a:latin typeface="EB Garamond"/>
                <a:ea typeface="EB Garamond"/>
                <a:cs typeface="EB Garamond"/>
                <a:sym typeface="EB Garamond"/>
              </a:rPr>
              <a:t>GRACIAS</a:t>
            </a:r>
            <a:endParaRPr b="1" sz="7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